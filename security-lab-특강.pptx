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[~3분] 인사. 오늘은 이론만 듣는 게 아니라 직접 해커가 되어 공격을 성공시키고, 그다음 개발자가 되어 똑같은 공격을 막습니다. 3시간 동안 기초→공격→실습→방어를 반복합니다.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3시간. 각 PART는 '개념→실제 사례→직접 실습→방어' 순서. 실습 시간을 넉넉히 잡았으니 학생들이 직접 손으로 해보게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[~3분] 수업의 리듬을 미리 알려주면 학생들이 따라오기 쉽다. 지금 실습 사이트 접속을 다 같이 해두면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[~2분] CTF는 시간이 남든 모자라든 자연스럽게 흡수되는 장치. 보너스 2개(소스 정찰·콘솔)는 0-7 개발자도구 수업과 직접 연결된다. 공유 순위표는 없으니(서버 없음) '먼저 6개' 또는 '최단 시간'으로 교실에서 집계.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[여기부터 ~45분] 기초. 질문을 많이 받으며 천천히. 이 토대가 뒤의 모든 공격을 이해하는 열쇠.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한 가지: 웹은 전부 '요청 → 응답'의 반복. 해킹은 대부분 이 '요청'을 조작하는 일이다.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보안이 진짜 중요한 건 서버. 하지만 공격은 클라이언트가 보낸 요청으로 들어온다. XSS만 예외로 피해자 '브라우저'를 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0의 핵심 복선. 입력(빨강)=SQLi·XSS, 쿠키(노랑)=CSRF.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GET=읽기, POST=쓰기/변경 정도로만 이해시키면 충분. '송금 같은 중요한 일이 GET으로 되면 위험하다'를 CSRF 복선으로 심어둔다.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쿼리스트링이 사용자 입력이라는 점 강조. 반사형 XSS, SSRF의 URL 입력으로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XSS 직접 복선. '브라우저는 글자와 코드를 구분 못 할 수 있다'가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5분] 다 같이 F12를 눌러 Console에 간단히 alert('hi') 쳐보게 하면 흥미 유발 + XSS 이해에 직접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 직접 복선. DB=표, SQL=질문, 입력이 질문에 끼워진다 — 3단계로 천천히.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CSRF 직접 복선. '쿠키는 자동 전송'이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0의 결론이자 PART 1~4의 지도. 복선 4개를 한 장으로 묶는다.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[~30분] 0-6(프론트엔드) 상기하며 시작: 브라우저는 글자와 코드를 구분 못 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'내 브라우저가 공격자 코드를 대신 실행한다'가 핵심. 쿠키가 털리면 비번 없이도 로그인된다는 점을 0-9와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종류를 외우게 할 필요는 없다. '저장형=모두 피해, 반사형=클릭한 사람만'만 감 잡으면 충분. 오늘 실습 사이트는 브라우저 안에서 도는 DOM/저장형 혼합.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가장 흥미로워하는 사례. '클릭도 안 했는데 보기만 해도 감염'을 강조. Samy는 이후 화이트해커가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~8분] 먼저 평범한 글을 써서 정상 동작을 보여준 뒤 payload를 넣게 하면 대비가 선명하다. 방어 버전 전환까지 꼭 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방어는 '출력 시점'이 핵심이라는 걸 강조. 입력을 막기보다 출력을 안전하게.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[~30분] 0-8(DB·SQL) 상기: SQL은 질문이고, 입력이 그 질문에 끼워진다.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0-8의 SELECT 문을 다시 띄워 비교하면 이해가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①②는 오늘 실습에서 직접 해본다. ③(UNION)은 '이런 것도 된다' 정도로만 소개. 깊이 들어가지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 침투 벡터가 SQL 인젝션이었다고 알려진 사건. '작은 구멍 → 거대한 피해'의 전형. 숫자로 규모를 실감시킨다.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~8분] 실행되는 SQL이 화면에 보이는 게 이 실습의 포인트. 입력이 문장 구조를 바꾸는 걸 눈으로 확인시킨다.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'입력을 막는 것'보다 '구조와 값을 분리하는 것'이 정답임을 강조. 바인딩 하나면 대부분 끝난다.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[10분] 전반부(기초+XSS+SQLi)가 꽤 밀도 높으니 여기서 환기. 못 따라온 학생 개별 도움.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[~25분] 0-1(요청/응답), 0-5(URL) 상기: 이번엔 '서버가' 요청을 보내는 쪽이다.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포인트: 공격자가 직접 못 가는 곳을, '서버를 시켜서' 간다. 내부망의 대리인으로 서버를 악용.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SSRF 실습 payload와 '똑같은 주소'가 등장한 실제 사건이라 몰입도가 높다. 실습 직전에 깔아준다.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~7분] 방금 본 Capital One과 연결. localhost:8080/admin/secret 도 시도해보게 하면 '내부 관리자 페이지' 개념까지 잡힌다.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allowlist(허용 목록)가 blocklist(차단 목록)보다 안전한 이유도 한마디. 막을 것을 나열하는 것보다 허용할 것만 통과시키는 게 빈틈이 적다.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[~25분] 0-9(쿠키) 상기: 쿠키는 자동 전송된다. 그 점을 악용하는 공격.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XSS와 헷갈리기 쉬움. XSS=코드가 실행됨 / CSRF=요청이 위조됨. 공격자는 응답을 못 보지만 '행동'은 일어난다.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특정 회사 숫자 대신 '업계가 통째로 학습해 기본 방어가 된' 흐름으로 설명. 과장된 수치 없이 정확하게.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~7분] '버튼엔 기프티콘이라 쓰여 있는데 실제론 송금'이라는 속임수를 강조. 쿠키 자동 전송(0-9)과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SameSite 쿠키는 요즘 브라우저 기본값이 강화돼 자동 방어가 늘었다는 점도 한마디.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0의 '입력을 믿지 마라'로 다시 묶으며 복습. 학생들에게 각 칸을 맞혀보게 해도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정답: Q1=XSS(저장형), Q2=SQL 인젝션, Q3=CSRF. 손 들어 맞히게 하면 복습 효과가 크다. SSRF는 '서버가 대신 내부에 접속' 상황으로 추가 질문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특강의 결론. 4개 공격을 관통하는 교훈 3개.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[~10분] 법·윤리 강조 필수. 실습 사이트 주소는 발표 전 GitHub Pages 주소로 교체. 질의응답으로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해킹 체험 · 보안 특강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HACKER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해커처럼 공격하고,
</a:t>
            </a:r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개발자처럼 방어하기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웹의 동작 원리부터 차근차근 — 4대 취약점을 직접 공격하고 막아보는 3시간 실습 특강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1261872" cy="502920"/>
          </a:xfrm>
          <a:prstGeom prst="roundRect">
            <a:avLst>
              <a:gd name="adj" fmla="val 18182"/>
            </a:avLst>
          </a:prstGeom>
          <a:solidFill>
            <a:srgbClr val="1C243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4805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기초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39112" y="4480560"/>
            <a:ext cx="905256" cy="502920"/>
          </a:xfrm>
          <a:prstGeom prst="roundRect">
            <a:avLst>
              <a:gd name="adj" fmla="val 18182"/>
            </a:avLst>
          </a:prstGeom>
          <a:solidFill>
            <a:srgbClr val="1C2436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39112" y="4480560"/>
            <a:ext cx="90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72968" y="4480560"/>
            <a:ext cx="1024128" cy="502920"/>
          </a:xfrm>
          <a:prstGeom prst="roundRect">
            <a:avLst>
              <a:gd name="adj" fmla="val 18182"/>
            </a:avLst>
          </a:prstGeom>
          <a:solidFill>
            <a:srgbClr val="1C2436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72968" y="448056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25696" y="4480560"/>
            <a:ext cx="1024128" cy="502920"/>
          </a:xfrm>
          <a:prstGeom prst="roundRect">
            <a:avLst>
              <a:gd name="adj" fmla="val 18182"/>
            </a:avLst>
          </a:prstGeom>
          <a:solidFill>
            <a:srgbClr val="1C243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25696" y="448056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78424" y="4480560"/>
            <a:ext cx="1024128" cy="502920"/>
          </a:xfrm>
          <a:prstGeom prst="roundRect">
            <a:avLst>
              <a:gd name="adj" fmla="val 18182"/>
            </a:avLst>
          </a:prstGeom>
          <a:solidFill>
            <a:srgbClr val="1C2436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78424" y="448056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수업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3716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웹은 어떻게 동작할까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3716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요청·응답, URL, 개발자도구, DB, 쿠키 — 공격을 이해하기 위한 토대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3716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45분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3969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13969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13969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1396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남이 심어둔 코드가 내 브라우저에서 실행된다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13969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30분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290779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9077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인젝션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9077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없이 로그인을 뚫는다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290779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30분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0F142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28600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쉬는 시간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4281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2428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424281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424281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서버를 속여 내부 비밀을 훔쳐온다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0" y="42428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25분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1091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50109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50109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50109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한 번으로 나도 모르게 송금된다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50109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25분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77900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57790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577900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복습 · 윤리 · 더 배우기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577900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것을 묶고, 다음 단계를 안내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0" y="57790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15분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수업은 이렇게 진행돼요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취약점을 같은 4단계로 반복합니다. 패턴에 익숙해지면 새로운 취약점도 스스로 분석할 수 있어요.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비유로 쉽게 이해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10312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8328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해킹 사건으로 실감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10312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실습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사이트에서 공격 성공 (FLAG 획득)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210312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5256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되어 똑같은 공격을 차단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32C42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실습 사이트를 미리 열어두세요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강사가 알려주는 주소로 접속 → 각 실습마다 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FLAG{...}</a:t>
            </a:r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를 찾아 CTF 페이지에 제출합니다. 6개 모두 찾으면 오늘의 화이트해커 인증!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5681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수업 진행 · CTF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미션 — 미니 CTF 🚩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공격에 성공해 찾은 FLAG를 'CTF 페이지'에 제출하세요. 점수와 시간이 기록됩니다.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100pt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★☆☆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240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26280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150pt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★★☆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2402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75320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200pt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★★★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6393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200pt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★★★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4747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2628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보너스·소스 정찰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6393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120pt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★★☆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34747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7532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보너스·콘솔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6393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80pt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★☆☆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4문제</a:t>
            </a:r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실습에서 공격 성공 시 플래그가 나오고, 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보너스 2문제</a:t>
            </a:r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개발자도구(F12)로 직접 찾습니다. 먼저 6개 다 찾거나, 가장 빠른 사람이 승자!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240944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14600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 · FOUNDATION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926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웹은 어떻게 동작할까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배우기 전에, 웹이 돌아가는 원리부터 천천히.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0-1 · 요청과 응답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웹사이트를 연다는 것 = 편지를 주고받는 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주소창에 youtube.com 을 치면, 사실은 이런 대화가 오갑니다.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502920" cy="502920"/>
          </a:xfrm>
          <a:prstGeom prst="rect">
            <a:avLst/>
          </a:prstGeom>
          <a:solidFill>
            <a:srgbClr val="5EEA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나(브라우저)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3957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"youtube.com 페이지 좀 주세요!"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395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요청(Request)을 편지로 보냄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703320"/>
            <a:ext cx="502920" cy="502920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844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584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"여기 있어요" + HTML 코드 한 뭉치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5844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응답(Response)을 답장으로 보냄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773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나(브라우저)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47731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HTML을 해석해 화면에 그림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4773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보는 '화면'이 완성됨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0-2 · 클라이언트 vs 서버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'클라이언트'이고 누가 '서버'일까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클라이언트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내 컴퓨터의 브라우저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화면을 그리고 보여주는 쪽</a:t>
            </a:r>
            <a:endParaRPr lang="en-US" sz="15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크롬·사파리·엣지 같은 브라우저</a:t>
            </a:r>
            <a:endParaRPr lang="en-US" sz="15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HTML/CSS/JS를 '실행'하는 곳</a:t>
            </a:r>
            <a:endParaRPr lang="en-US" sz="15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사용자(여러분)가 직접 만지는 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72200" y="19202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서버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423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어딘가에 있는 강력한 컴퓨터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0632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요청을 받아 처리하는 쪽</a:t>
            </a:r>
            <a:endParaRPr lang="en-US" sz="15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데이터베이스(DB)를 품고 있음</a:t>
            </a:r>
            <a:endParaRPr lang="en-US" sz="15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로그인·결제 등 '진짜 중요한 일' 담당</a:t>
            </a:r>
            <a:endParaRPr lang="en-US" sz="15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직접 볼 수 없는 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0-3 · 요청의 생김새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브라우저가 보내는 '편지'를 열어보면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버튼을 누르면 브라우저는 서버에 이런 요청을 보냅니다.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675120" cy="2834640"/>
          </a:xfrm>
          <a:prstGeom prst="roundRect">
            <a:avLst>
              <a:gd name="adj" fmla="val 2581"/>
            </a:avLst>
          </a:prstGeom>
          <a:solidFill>
            <a:srgbClr val="0A0E17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6217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/login HTTP/1.1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school.com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session=abc123xyz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id=admin&amp;pw=1234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21488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35240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/login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· 어디에 (메서드 · 경로)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312724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63524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Cookie: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584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로그인 출입증 (자동으로 붙음)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4105656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635240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id=admin&amp;pw=1234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4562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입력한 값 = 입력(input)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32C42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5285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기억하세요 — </a:t>
            </a:r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부분(입력)과 노란 부분(쿠키)은 </a:t>
            </a:r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바꿔서 보낼 수 있습니다.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바로 여기서 공격이 시작돼요.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5788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357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0-4 · 메서드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요청에도 종류가 있다 — GET과 POST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'무엇을 하려는 요청인지' 알려주는 꼬리표. 공격 지점을 찾을 때 중요해요.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350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07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가져다 줘 (조회)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페이지·검색 결과를 '읽어올' 때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보내는 값이 주소(URL) 뒤에 붙음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/search?q=안녕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주소만 알면 누구나 같은 요청 가능 → CSRF·SSRF와 관련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350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07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이걸 처리해 줘 (변경)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246120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로그인·글쓰기·송금 등 '바꿀' 때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보내는 값이 요청 본문(body)에 담김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id=admin&amp;pw=1234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작업은 보통 POST로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0-5 · URL 구조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주소(URL)도 뜯어보면 여러 부분으로 나뉜다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A0E17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school.com</a:t>
            </a:r>
            <a:pPr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?q=안녕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암호화해서 주고받겠다는 약속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46704" y="310896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83864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school.com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서버에 갈지 (집 주소)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310896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81928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서버의 어느 기능인지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42832" y="310896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79992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?q=안녕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79992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쿼리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079992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넘기는 값 = 입력!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'쿼리'처럼, 주소 안에도 내가 넣은 값이 들어갑니다. → SSRF·XSS에서 이걸 악용해요.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5681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0-6 · 프론트엔드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브라우저는 받은 글을 '코드'로 실행한다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화면을 만드는 3가지 — 특히 JS는 '진짜 실행되는 명령'이에요.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뼈대 · 내용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제목, 글, 버튼 같은 '구조'를 만든다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240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9768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꾸미기 · 디자인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색·글꼴·배치 등 '보이는 모습'을 입힌다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240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 · 명령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반응 등 '실제로 실행되는 코드'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32C4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498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그래서 생기는 문제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브라우저는 받은 </a:t>
            </a:r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&lt;b&gt;안녕&lt;/b&gt;</a:t>
            </a:r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를 '굵은 글씨'로 그리고, </a:t>
            </a:r>
            <a:pPr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&lt;script&gt;...&lt;/script&gt;</a:t>
            </a:r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를 만나면 '진짜 명령'으로 실행합니다.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남이 쓴 글에 &lt;script&gt;가 숨어 있으면? 이게 바로 XSS입니다.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5681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0-7 · 실습 준비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개발자도구(F12) — 해커의 돋보기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 숨어 있는 비밀 도구. 지금 다 같이 한 번 열어봅시다!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열어보는 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키보드 F12 (또는 Ctrl+Shift+I / ⌘+⌥+I)</a:t>
            </a:r>
            <a:endParaRPr lang="en-US" sz="14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마우스 오른쪽 클릭 → '검사(Inspect)'</a:t>
            </a:r>
            <a:endParaRPr lang="en-US" sz="14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탭: 페이지의 HTML 구조가 보임</a:t>
            </a:r>
            <a:endParaRPr lang="en-US" sz="14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탭: JavaScript를 직접 실행</a:t>
            </a:r>
            <a:endParaRPr lang="en-US" sz="14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탭: 오가는 요청·응답을 엿보기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232C42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보안에서 중요할까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346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뒤에서 '실제로 무슨 요청이 오가는지' 볼 수 있다</a:t>
            </a:r>
            <a:endParaRPr lang="en-US" sz="14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입력값이 서버로 어떻게 전달되는지 확인</a:t>
            </a:r>
            <a:endParaRPr lang="en-US" sz="14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공격이 통했는지(응답·쿠키 변화) 관찰</a:t>
            </a:r>
            <a:endParaRPr lang="en-US" sz="145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 내내 이 도구를 켜 두면 좋아요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8366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0-8 · 백엔드 &amp; DB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데이터는 어디에? — 데이터베이스와 SQL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회원정보·게시글은 서버의 데이터베이스(DB)에 거대한 '표'로 저장됩니다.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라는 표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4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4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pw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4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S3cr3t!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관리자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pass1234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학생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12648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'SQL' = DB에게 던지는 질문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2606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A0E17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55080" y="27889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id='admin'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"users 표에서 id가 admin인 행을 다 가져와" 라는 뜻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32C42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</a:t>
            </a:r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id='admin'</a:t>
            </a:r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의 admin 부분에 </a:t>
            </a:r>
            <a:pPr indent="0" marL="0">
              <a:buNone/>
            </a:pPr>
            <a:r>
              <a:rPr lang="en-US" sz="1500" b="1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입력이 그대로 들어간다면?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질문 자체를 조작할 수 있어요. 이게 SQL 인젝션입니다.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8366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0-9 · 쿠키 &amp; 로그인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상태는 어떻게 유지될까 — 쿠키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로그인하면 매번 비번을 안 쳐도 되는 이유가 있어요.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532888"/>
            <a:ext cx="502920" cy="502920"/>
          </a:xfrm>
          <a:prstGeom prst="rect">
            <a:avLst/>
          </a:prstGeom>
          <a:solidFill>
            <a:srgbClr val="5EEA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23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성공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42316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'출입증(쿠키)'을 발급해 브라우저에 저장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5204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요청부터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52044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브라우저가 그 쿠키를 자동으로 함께 보냄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727448"/>
            <a:ext cx="502920" cy="502920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6177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61772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쿠키를 보고 "아, 로그인한 그 사람이구나" 인식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'자동으로 보내진다'는 점이 편리하지만, 동시에 CSRF 공격의 빈틈이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8366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0-10 · 보안의 출발점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큰 그림: "입력을 믿지 마라"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서버로 보내는 '모든 것'은 조작될 수 있다고 가정해야 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검색어 · 글 내용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믿고 처리하면 → </a:t>
            </a:r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로그인 입력값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믿고 처리하면 → </a:t>
            </a:r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인젝션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URL · 주소값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81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믿고 처리하면 → </a:t>
            </a:r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931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🍪 쿠키 · 요청 자체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681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믿고 처리하면 → </a:t>
            </a:r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577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32C42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가지 공격은 결국 하나의 실수 — "입력을 그대로 믿었다" — 에서 출발합니다.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1460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· XSS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926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 사이트 스크립팅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남이 심어둔 코드가 내 브라우저에서 실행된다.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4757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475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XSS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 사이트 스크립팅 (XSS)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남이 심어둔 코드가 내 브라우저에서 실행된다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쉽게 말하면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게시판에 글을 올릴 때, 글 내용에 몰래 "명령문(script)"을 숨겨 넣습니다.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글을 읽는 사람의 브라우저가 글을 그리다가, 숨겨진 명령문까지 '진짜 코드'로 실행해 버려요.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댓글·닉네임·프로필처럼 '남이 쓴 글'을 보여주는 곳은 모두 위험할 수 있습니다.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21488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핵심 포인트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88036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공격자의 코드가 피해자 브라우저에서 실행됨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쿠키·세션 탈취 → 계정 도용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입력창을 띄워 비밀번호 수집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변조, 악성 사이트로 유도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흔하고 많이 발견되는 웹 취약점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4757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475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XSS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XSS에도 3가지 종류가 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'악성 코드가 어디에 들어가느냐'로 나뉩니다.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저장형 (Stored)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0720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위험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DB에 악성 코드가 저장됨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글을 보는 모든 사람이 피해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게시판·댓글·프로필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MySpace 'Samy' 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816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676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반사형 (Reflected)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80720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링크로 유인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324612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코드가 URL에 담김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링크를 클릭한 사람만 피해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결과·에러 메시지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 메일과 자주 결합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768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628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기반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36280" y="280720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안에서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24612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서버를 거치지 않음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브라우저의 JS가 직접 처리하다 발생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주소의 #뒷부분 등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실습이 이 방식에 가까움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4757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475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XSS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일어난 일 — MySpace 'Samy' 웜 (2005)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2005년, 세계 최대 SNS였던 MySpace에서 벌어진 사건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있었나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 Kamkar라는 사람이 자기 프로필에 XSS 코드를 심었습니다. 그 프로필을 '보기만' 해도 코드가 실행돼, 방문자의 프로필에 "Samy는 내 영웅"이 추가되고 그 코드가 다시 복제됐어요. 사람에서 사람으로 번지는 '웜(worm)'이 된 거죠.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14884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232C42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8952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20시간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만에 100만 명 이상 감염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MySpace가 잠시 서비스를 내려야 했음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93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교훈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5120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'보기만 해도' 퍼진다 — 저장형 XSS의 무서움. 사용자가 올린 글을 그대로 믿고 출력하면 전염병처럼 번질 수 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4757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475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XSS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① XSS 직접 공격하기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파일  </a:t>
            </a:r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labs/xss.html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해보세요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사이트에서 'XSS' 실습에 들어갑니다.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'취약한 버전' 상태인지 확인합니다.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칸에 오른쪽 payload를 붙여넣습니다.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'글 남기기'를 누릅니다.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경고창이 뜨면 성공! 이제 '방어된 버전'으로 바꿔 다시 시도해보세요.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0574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A0E17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src=x onerror=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alert('해킹당함!')&gt;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입력할 공격 문자열(payload)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4114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4279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성공하면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645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경고창이 뜨고, 숨겨진 FLAG가 화면에 나타납니다. 방어 버전에서는 코드가 그냥 글자로만 보여요.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5440680"/>
            <a:ext cx="4663440" cy="384048"/>
          </a:xfrm>
          <a:prstGeom prst="roundRect">
            <a:avLst>
              <a:gd name="adj" fmla="val 19048"/>
            </a:avLst>
          </a:prstGeom>
          <a:solidFill>
            <a:srgbClr val="0A0E17"/>
          </a:solidFill>
          <a:ln w="12700">
            <a:solidFill>
              <a:srgbClr val="4ADE8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720840" y="5440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FLAG{XSS_c0de_1n_y0ur_br0wser}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4757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475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XSS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· 어떻게 막을까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'입력을 글자로만 다루기'. 코드로 해석될 틈을 주지 않는다.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취약한 코드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입력을 HTML로 그대로 삽입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box.innerHTML =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+ ": " + msg;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&lt;script&gt;가 실행되어 버림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방어된 코드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입력을 '글자'로만 삽입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box.textContent =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+ ": " + msg;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escapeHtml()로 &lt; &gt; 변환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544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방어 요약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출력할 때 innerHTML 대신 textContent 사용 (가장 쉬운 방어)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서버에서 특수문자( &lt; &gt; " ' )를 이스케이프 처리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Content-Security-Policy(CSP) 헤더로 허용되지 않은 스크립트 실행 차단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입력 검증 + 신뢰할 수 있는 라이브러리(DOMPurify 등)로 정화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272491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1460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SQL INJECTION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926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인젝션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비밀번호를 몰라도 로그인에 성공하는 주문.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SQL INJECTION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인젝션 (SQLi)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비밀번호를 몰라도 로그인에 성공하는 주문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쉽게 말하면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로그인하면 서버는 DB에게 묻습니다: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"id가 admin이고 비번이 XXX인 사람 있어?"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질문(SQL)에 내 입력이 그대로 끼워지면, 질문 자체를 조작할 수 있어요.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OR '1'='1 을 넣으면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"...또는 1=1인 사람?"으로 바뀌고,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1은 항상 1이라 모두가 통과됩니다.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21488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핵심 포인트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88036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질의문의 '구조'를 입력으로 바꿔치기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우회(로그인 뚫기)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전체 개인정보·비밀번호 유출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수정·삭제까지 가능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꼽는 가장 위험한 취약점 중 하나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SQL INJECTION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질문을 조작하는 여러 방법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아이디어는 하나 — 입력으로 SQL 문장의 '구조'를 바꾼다.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항상 참 만들기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0720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우회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OR '1'='1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조건을 '항상 참'으로 바꿈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행이 조건에 맞아 로그인 통과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816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676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주석으로 지우기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80720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뒷부분 무력화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324612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admin' --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뒤는 전부 주석(무시)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검사 부분을 통째로 삭제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768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628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데이터 빼내기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36280" y="280720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유출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24612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SELECT ...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표의 데이터를 결과에 끼워 넣음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회원정보 전체를 긁어올 수 있음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SQL INJECTION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일어난 일 — Heartland 카드사 유출 (2008)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2008년, 미국의 대형 결제 처리 회사 Heartland Payment 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있었나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공격자들은 회사의 웹 애플리케이션에서 SQL 인젝션으로 처음 침투했습니다. 거기서 내부 네트워크로 파고들어, 결제 과정에서 오가는 신용카드 정보를 대량으로 빼냈어요. 당시 역사상 최대 규모의 카드 정보 유출로 기록됐습니다.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14884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232C42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8952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1억 3천만+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건의 신용카드 번호 유출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출발점은 단 한 줄의 SQL 인젝션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93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교훈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5120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입력창 하나가 회사 전체를 무너뜨릴 수 있다. SQL 인젝션은 '옛날 기술' 같지만 지금도 꾸준히 발견된다.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SQL INJECTION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② 비밀번호 없이 로그인하기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파일  </a:t>
            </a:r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labs/sqli.html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해보세요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'SQL 인젝션' 실습에 들어갑니다.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 칸은 admin 그대로 둡니다.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칸에 오른쪽 payload를 입력합니다.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'로그인'을 누르고, 화면에 실제 실행되는 SQL이 어떻게 바뀌는지 봅니다.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버전으로 바꿔 같은 입력이 막히는지 확인합니다.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0574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A0E17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(아이디에 admin' -- 도 시도)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입력할 공격 문자열(payload)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4114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4279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성공하면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645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비밀번호를 몰라도 admin으로 로그인 성공! 바뀐 SQL 문장과 FLAG가 표시됩니다.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5440680"/>
            <a:ext cx="4663440" cy="384048"/>
          </a:xfrm>
          <a:prstGeom prst="roundRect">
            <a:avLst>
              <a:gd name="adj" fmla="val 19048"/>
            </a:avLst>
          </a:prstGeom>
          <a:solidFill>
            <a:srgbClr val="0A0E17"/>
          </a:solidFill>
          <a:ln w="12700">
            <a:solidFill>
              <a:srgbClr val="4ADE8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720840" y="5440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FLAG{5ql_1nj3ct10n_0R_1=1}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SQL INJECTION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인젝션 · 어떻게 막을까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'입력을 질문의 구조가 아니라, 값으로만 다루기'.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취약한 코드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문자열을 그대로 이어붙임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"...WHERE id='" + id +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"' AND pw='" + pw + "'"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방어된 코드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파라미터 바인딩(?)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"...WHERE id=? AND pw=?"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cursor.execute(sql, (id, pw))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?에 '값'으로만 안전하게 들어감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544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방어 요약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Prepared Statement / 파라미터 바인딩 — 가장 중요하고 확실한 방어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ORM 사용 (Django ORM, SQLAlchemy 등) — 내부적으로 바인딩 처리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입력값 검증 (형식·길이·허용 문자)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DB 계정 권한 최소화 — 뚫려도 피해를 줄임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쉬는 시간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뒤에 PART 3 (SSRF)로 이어갑니다.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여기까지 FLAG 2개 — 아직 못 찾았다면 쉬는 시간에 마저 도전!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1460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SSRF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926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측 요청 위조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서버를 속여 내부 비밀을 대신 훔쳐오게 만든다.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측 요청 위조 (SSRF)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서버를 속여 내부 비밀을 대신 훔쳐오게 만들기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쉽게 말하면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"URL을 넣으면 미리보기를 보여주는" 기능이 있죠.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이때 서버가 대신 그 주소에 접속합니다.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공격자가 외부 주소 대신 '서버 내부 주소'를 넣으면?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바깥에선 절대 못 보는 내부 관리자 페이지나, 클라우드의 비밀 열쇠를 서버가 친절하게 가져다 줍니다.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21488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핵심 포인트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88036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서버의 '심부름' 권한을 악용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내부망·관리자 페이지 접근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메타데이터에서 비밀 키 탈취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방화벽 안쪽을 서버를 통해 훔쳐봄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대형 클라우드 유출의 단골 원인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일어난 일 — Capital One 은행 유출 (2019)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2019년, 미국 대형 은행 Capital One (클라우드는 AWS 사용)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있었나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공격자는 잘못 설정된 방화벽을 통해 SSRF 공격을 성공시켰습니다. 서버를 속여 AWS의 내부 메타데이터 주소(169.254.169.254)에 접속하게 만들고, 거기 있던 '서버의 비밀 열쇠'를 빼냈어요. 그 키로 클라우드 저장소의 고객 데이터를 통째로 가져갔습니다.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14884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232C42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8952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1억 600만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명의 고객 정보 유출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(미국·캐나다 합산)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93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교훈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5120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실습에서 넣어볼 바로 그 주소(169.254.169.254)가 현실에서 터뜨린 사건. 내부 주소 차단이 왜 중요한지 보여준다.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③ 서버로 내부 비밀 훔치기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파일 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labs/ssrf.html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C2436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해보세요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'SSRF' 실습에 들어갑니다.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칸에 평범한 외부 이미지 주소를 넣어 정상 동작을 봅니다.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오른쪽 payload(내부 메타데이터 주소)를 넣습니다.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'서버가 가져오기'를 누릅니다.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버전에서는 내부 주소가 차단되는 걸 확인합니다.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0574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A0E1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http://169.254.169.254/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latest/meta-data/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입력할 공격 문자열(payload)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4114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4279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성공하면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645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가짜 AWS 비밀 키를 가져옵니다 — Capital One 사건과 똑같은 방식! FLAG가 나타납니다.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5440680"/>
            <a:ext cx="4663440" cy="384048"/>
          </a:xfrm>
          <a:prstGeom prst="roundRect">
            <a:avLst>
              <a:gd name="adj" fmla="val 19048"/>
            </a:avLst>
          </a:prstGeom>
          <a:solidFill>
            <a:srgbClr val="0A0E17"/>
          </a:solidFill>
          <a:ln w="12700">
            <a:solidFill>
              <a:srgbClr val="4ADE8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720840" y="5440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FLAG{55rf_m3tadata_1s_m1ne}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 · 어떻게 막을까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'서버가 아무 주소에나 가지 못하게' 막기.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취약한 코드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받은 주소를 검증 없이 요청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requests.get(user_url)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resp.text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내부 주소든 뭐든 다 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방어된 코드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= urlparse(url).hostname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is_private_ip(host):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Error('내부 접근 금지')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허용 목록만 통과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544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방어 요약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사설 IP 대역(10./192.168./127./169.254.) 차단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허용 목록(allowlist) 방식 — 믿을 수 있는 도메인만 통과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클라우드 메타데이터는 IMDSv2(토큰 필요)로 전환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불필요한 리다이렉트 따라가기 금지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14600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CSRF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926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 사이트 요청 위조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한 번으로, 나도 모르게 송금된다.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CSRF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 사이트 요청 위조 (CSRF)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한 번 눌렀을 뿐인데 내 돈이 송금됐다?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쉽게 말하면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은행에 로그인한 상태에서, 공격자가 보낸 수상한 페이지를 엽니다.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페이지엔 '송금 요청'이 숨어 있어요.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브라우저는 은행 쿠키를 자동으로 함께 보내므로,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은행은 "로그인한 본인의 정상 요청"으로 착각하고 송금을 실행합니다. 내가 누른 적도 없는데 말이죠.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21488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핵심 포인트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88036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피해자의 '로그인 상태'를 몰래 악용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브라우저가 쿠키를 자동 전송하는 점을 이용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송금·비밀번호 변경·회원탈퇴 강제 실행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피해자는 수상한 링크 클릭만으로 당함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XSS와 달리 코드 실행이 아니라 '요청 위조'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CSRF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일어난 일 — 초창기 웹을 괴롭힌 CSRF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2000년대, 수많은 웹사이트·공유기 관리 페이지에서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있었나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예전엔 많은 사이트가 '로그인 쿠키만' 보고 요청을 처리했습니다. 공격자는 이미지 태그나 숨은 폼에 '비밀번호 변경'·'설정 변경' 요청을 심어, 피해자가 그 페이지를 열기만 해도 요청이 나가게 했어요. 집 공유기 설정이 몰래 바뀌는 피해도 흔했습니다.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14884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232C42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89520" y="2743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탑재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거의 모든 웹 프레임워크가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토큰을 기본으로 넣어줌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93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교훈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5120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흔했기에, 이제는 'CSRF 방어가 기본값'이 됐다. 프레임워크가 주는 보호 장치를 끄지 않는 것만으로도 큰 방어가 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CSRF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④ 나도 모르게 송금되기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파일  </a:t>
            </a:r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labs/csrf.html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해보세요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'CSRF' 실습에 들어갑니다. 위쪽은 '로그인된 은행', 아래는 '공격 페이지'예요.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'취약한 은행' 상태에서 아래 '🎁 기프티콘 받기'를 누릅니다.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페이지일 뿐인데 내 은행 잔액이 줄어드는 걸 확인합니다.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'방어된 은행'으로 바꾸고 다시 눌러봅니다.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요청이 거부되는 걸 확인합니다.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0574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A0E17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공격 페이지에 숨은 요청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/transfer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to=해커&amp;amount=500000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입력할 공격 문자열(payload)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4114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4279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성공하면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645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한 번에 '해커'에게 송금이 실행됩니다. 방어 버전(CSRF 토큰)에서는 거부돼요.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5440680"/>
            <a:ext cx="4663440" cy="384048"/>
          </a:xfrm>
          <a:prstGeom prst="roundRect">
            <a:avLst>
              <a:gd name="adj" fmla="val 19048"/>
            </a:avLst>
          </a:prstGeom>
          <a:solidFill>
            <a:srgbClr val="0A0E17"/>
          </a:solidFill>
          <a:ln w="12700">
            <a:solidFill>
              <a:srgbClr val="4ADE8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720840" y="5440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FLAG{c5rf_1_d1dnt_cl1ck_th4t}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CSRF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· 어떻게 막을까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'쿠키만으로 믿지 말고, 진짜 그 페이지에서 온 요청인지 확인'.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취약한 코드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로그인 쿠키만 확인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@post('/transfer')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transfer(to, amount):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do_transfer(user, to, amount)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C2436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방어된 코드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700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비밀 토큰도 함께 검증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csrf_token != session.token: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Error('위조된 요청!')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페이지는 이 토큰을 모름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232C4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5445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방어 요약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CSRF 토큰 — 폼마다 예측 불가능한 비밀값을 넣고 검증 (공격 페이지는 모름)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SameSite 쿠키 설정 — 다른 사이트에서 온 요청엔 쿠키를 안 보냄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중요한 작업은 재인증(비밀번호 재입력·OTP) 요구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프레임워크가 주는 CSRF 보호 기능을 끄지 않기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 취약점 한눈에 비교</a:t>
            </a:r>
            <a:endParaRPr lang="en-US" sz="3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19456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4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취약점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줄 요약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노리는 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방어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XSS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남의 코드가 내 브라우저에서 실행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사용자(브라우저)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출력 이스케이프 · CSP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 Injection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질의문을 조작해 인증·DB 장악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데이터베이스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 바인딩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BBF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SSRF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서버를 속여 내부 자원 요청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서버·내부망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허용 목록 · 내부 IP 차단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717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CSRF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상태를 악용한 강제 요청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세션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CSRF 토큰 · SameSite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가지 모두 "입력을 믿어서" 생깁니다. 방어의 출발점은 항상 '검증'이에요.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5788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357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QUIZ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복습 퀴즈 — 어떤 공격일까?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상황을 듣고 어떤 취약점인지 맞혀보세요. (정답은 다 같이!)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 프로필을 '봤을 뿐'인데 내 계정이 이상한 글을 올렸다.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무엇?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816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5676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02480" y="288036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창에 이상한 기호를 넣었더니 비번 없이 들어가졌다.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무엇?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7680" y="2148840"/>
            <a:ext cx="3505200" cy="3703320"/>
          </a:xfrm>
          <a:prstGeom prst="roundRect">
            <a:avLst>
              <a:gd name="adj" fmla="val 2087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36280" y="2350008"/>
            <a:ext cx="304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82000" y="2880360"/>
            <a:ext cx="3002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링크를 눌렀더니 내 계정에서 돈이 빠져나갔다.</a:t>
            </a: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endParaRPr lang="en-US" sz="135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무엇?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결국 개발자가 기억할 3가지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C2436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🚫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7373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입력을 믿지 마라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22199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보낸 모든 값은 공격일 수 있다고 가정하고 검증한다.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C2436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🔀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2461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데이터와 명령을 분리하라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73075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입력이 코드·질의문·주소의 '구조'를 바꾸지 못하게 한다. (바인딩·이스케이프·허용목록)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C2436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7548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🔑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754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권한과 상태를 다시 확인하라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52395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쿠키만 믿지 말고 토큰·재인증으로 '진짜 그 사람의 의도'인지 확인한다.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4757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1475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화이트해커의 약속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3B1D22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가장 중요한 규칙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기술은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허락받지 않은 실제 사이트에 절대 사용하면 안 됩니다.</a:t>
            </a:r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타인의 시스템을 무단 공격하면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정보통신망법 위반으로 처벌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받습니다. 보안 지식은 '지키기 위해' 배웁니다.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실습 사이트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여섯 개 FLAG를 모두 찾았나요? 집에서도 '방어 버전'의 코드를 더 살펴보며 복습해보세요.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0F1420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[여기에 GitHub Pages 주소]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5661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C2436"/>
          </a:solidFill>
          <a:ln w="12700">
            <a:solidFill>
              <a:srgbClr val="2E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3749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더 배우고 싶다면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206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· WebGoat — 합법적인 취약점 연습 사이트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Dreamhack · Hack The Box — 워게임 / CTF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— 실무 웹 취약점 공식 목록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환영합니다!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ecLab">
  <a:themeElements>
    <a:clrScheme name="CyberSecLab">
      <a:dk1>
        <a:srgbClr val="0F1420"/>
      </a:dk1>
      <a:lt1>
        <a:srgbClr val="FFFFFF"/>
      </a:lt1>
      <a:dk2>
        <a:srgbClr val="1C2436"/>
      </a:dk2>
      <a:lt2>
        <a:srgbClr val="E6EBF5"/>
      </a:lt2>
      <a:accent1>
        <a:srgbClr val="5EEAD4"/>
      </a:accent1>
      <a:accent2>
        <a:srgbClr val="818CF8"/>
      </a:accent2>
      <a:accent3>
        <a:srgbClr val="F87171"/>
      </a:accent3>
      <a:accent4>
        <a:srgbClr val="4ADE80"/>
      </a:accent4>
      <a:accent5>
        <a:srgbClr val="FBBF24"/>
      </a:accent5>
      <a:accent6>
        <a:srgbClr val="94A3B8"/>
      </a:accent6>
      <a:hlink>
        <a:srgbClr val="5EEAD4"/>
      </a:hlink>
      <a:folHlink>
        <a:srgbClr val="818CF8"/>
      </a:folHlink>
    </a:clrScheme>
    <a:fontScheme name="CyberSec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 해킹 체험 특강 (3시간)</dc:title>
  <dc:subject>PptxGenJS Presentation</dc:subject>
  <dc:creator>보안 특강</dc:creator>
  <cp:lastModifiedBy>보안 특강</cp:lastModifiedBy>
  <cp:revision>1</cp:revision>
  <dcterms:created xsi:type="dcterms:W3CDTF">2026-10-23T23:50:03Z</dcterms:created>
  <dcterms:modified xsi:type="dcterms:W3CDTF">2026-10-23T23:50:03Z</dcterms:modified>
</cp:coreProperties>
</file>